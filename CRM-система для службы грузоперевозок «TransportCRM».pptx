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026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44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38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76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59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11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85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631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11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65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14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2C830-E4C9-4627-BFD4-92D44150546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7FDC4-70C1-4846-AD92-3A990B17D9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12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ail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al-mar@list.ru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085533"/>
          </a:xfrm>
        </p:spPr>
        <p:txBody>
          <a:bodyPr>
            <a:normAutofit/>
          </a:bodyPr>
          <a:lstStyle/>
          <a:p>
            <a:r>
              <a:rPr lang="ru-RU" sz="4400" b="1" dirty="0"/>
              <a:t>CRM-система для службы грузоперевозок «</a:t>
            </a:r>
            <a:r>
              <a:rPr lang="ru-RU" sz="4400" b="1" dirty="0" err="1"/>
              <a:t>TransportCRM</a:t>
            </a:r>
            <a:r>
              <a:rPr lang="ru-RU" sz="4400" b="1" dirty="0"/>
              <a:t>»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272196"/>
            <a:ext cx="9144000" cy="1918742"/>
          </a:xfrm>
        </p:spPr>
        <p:txBody>
          <a:bodyPr/>
          <a:lstStyle/>
          <a:p>
            <a:r>
              <a:rPr lang="ru-RU" dirty="0"/>
              <a:t>Автор: </a:t>
            </a:r>
            <a:r>
              <a:rPr lang="ru-RU" dirty="0" err="1" smtClean="0"/>
              <a:t>Маричев</a:t>
            </a:r>
            <a:r>
              <a:rPr lang="ru-RU" dirty="0" smtClean="0"/>
              <a:t> Александр</a:t>
            </a:r>
            <a:br>
              <a:rPr lang="ru-RU" dirty="0" smtClean="0"/>
            </a:br>
            <a:r>
              <a:rPr lang="ru-RU" dirty="0"/>
              <a:t>Дисциплина: Курсовой проект по </a:t>
            </a:r>
            <a:r>
              <a:rPr lang="ru-RU" dirty="0" err="1" smtClean="0"/>
              <a:t>Python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Дата: 2026 г.</a:t>
            </a:r>
          </a:p>
        </p:txBody>
      </p:sp>
    </p:spTree>
    <p:extLst>
      <p:ext uri="{BB962C8B-B14F-4D97-AF65-F5344CB8AC3E}">
        <p14:creationId xmlns:p14="http://schemas.microsoft.com/office/powerpoint/2010/main" val="158674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Цель презентации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Представить итоговый проект — CRM-систему для малой транспортной компании.</a:t>
            </a:r>
          </a:p>
          <a:p>
            <a:r>
              <a:rPr lang="ru-RU" dirty="0"/>
              <a:t>Показать полный цикл автоматизации: от заявки до отчётности.</a:t>
            </a:r>
          </a:p>
          <a:p>
            <a:r>
              <a:rPr lang="ru-RU" dirty="0"/>
              <a:t>Продемонстрировать использование </a:t>
            </a:r>
            <a:r>
              <a:rPr lang="ru-RU" dirty="0" err="1"/>
              <a:t>Django</a:t>
            </a:r>
            <a:r>
              <a:rPr lang="ru-RU" dirty="0"/>
              <a:t>, </a:t>
            </a:r>
            <a:r>
              <a:rPr lang="ru-RU" dirty="0" err="1"/>
              <a:t>pandas</a:t>
            </a:r>
            <a:r>
              <a:rPr lang="ru-RU" dirty="0"/>
              <a:t>, </a:t>
            </a:r>
            <a:r>
              <a:rPr lang="ru-RU" dirty="0" err="1"/>
              <a:t>matplotlib</a:t>
            </a:r>
            <a:r>
              <a:rPr lang="ru-RU" dirty="0"/>
              <a:t>, Telegram API, </a:t>
            </a:r>
            <a:r>
              <a:rPr lang="ru-RU" dirty="0" err="1"/>
              <a:t>Яндекс.Карт</a:t>
            </a:r>
            <a:r>
              <a:rPr lang="ru-RU" dirty="0"/>
              <a:t> и других технологий.</a:t>
            </a:r>
          </a:p>
          <a:p>
            <a:r>
              <a:rPr lang="ru-RU" dirty="0"/>
              <a:t>Рассказать о применении практики документирования кода и автоматического тестирования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149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Краткое описание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TransportCRM</a:t>
            </a:r>
            <a:r>
              <a:rPr lang="ru-RU" dirty="0"/>
              <a:t> — веб-приложение на </a:t>
            </a:r>
            <a:r>
              <a:rPr lang="ru-RU" dirty="0" err="1"/>
              <a:t>Django</a:t>
            </a:r>
            <a:r>
              <a:rPr lang="ru-RU" dirty="0"/>
              <a:t>, которое автоматизирует управление заказами на грузоперевозки.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Позволяет диспетчеру создавать заказы, назначать водителей, рассчитывать стоимость, отслеживать статусы, вести аналитику и формировать документы.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Водители получают уведомления в Telegram, клиенты — </a:t>
            </a:r>
            <a:r>
              <a:rPr lang="ru-RU" dirty="0" err="1"/>
              <a:t>email</a:t>
            </a:r>
            <a:r>
              <a:rPr lang="ru-RU" dirty="0"/>
              <a:t>-оповещения.</a:t>
            </a:r>
          </a:p>
        </p:txBody>
      </p:sp>
    </p:spTree>
    <p:extLst>
      <p:ext uri="{BB962C8B-B14F-4D97-AF65-F5344CB8AC3E}">
        <p14:creationId xmlns:p14="http://schemas.microsoft.com/office/powerpoint/2010/main" val="311926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/>
              <a:t/>
            </a:r>
            <a:br>
              <a:rPr lang="ru-RU" b="1" dirty="0"/>
            </a:br>
            <a:r>
              <a:rPr lang="ru-RU" sz="4900" b="1" dirty="0"/>
              <a:t>Цели и задачи проекта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Цель:</a:t>
            </a:r>
            <a:r>
              <a:rPr lang="ru-RU" dirty="0"/>
              <a:t> разработать CRM, которая автоматизирует ключевые процессы грузоперевозок.</a:t>
            </a:r>
          </a:p>
          <a:p>
            <a:r>
              <a:rPr lang="ru-RU" b="1" dirty="0"/>
              <a:t>Задачи:</a:t>
            </a:r>
            <a:endParaRPr lang="ru-RU" dirty="0"/>
          </a:p>
          <a:p>
            <a:r>
              <a:rPr lang="ru-RU" dirty="0"/>
              <a:t>Учёт клиентов, водителей, автомобилей, заказов.</a:t>
            </a:r>
          </a:p>
          <a:p>
            <a:r>
              <a:rPr lang="ru-RU" dirty="0"/>
              <a:t>Автоматический расчёт расстояния и стоимости.</a:t>
            </a:r>
          </a:p>
          <a:p>
            <a:r>
              <a:rPr lang="ru-RU" dirty="0"/>
              <a:t>Проверка занятости при назначении рейса.</a:t>
            </a:r>
          </a:p>
          <a:p>
            <a:r>
              <a:rPr lang="ru-RU" dirty="0"/>
              <a:t>Ролевая модель: диспетчер, водитель, клиент.</a:t>
            </a:r>
          </a:p>
          <a:p>
            <a:r>
              <a:rPr lang="ru-RU" dirty="0"/>
              <a:t>Уведомления (</a:t>
            </a:r>
            <a:r>
              <a:rPr lang="ru-RU" dirty="0" err="1"/>
              <a:t>email</a:t>
            </a:r>
            <a:r>
              <a:rPr lang="ru-RU" dirty="0"/>
              <a:t>, Telegram).</a:t>
            </a:r>
          </a:p>
          <a:p>
            <a:r>
              <a:rPr lang="ru-RU" dirty="0"/>
              <a:t>Аналитика и экспорт документов.</a:t>
            </a:r>
          </a:p>
          <a:p>
            <a:r>
              <a:rPr lang="ru-RU" dirty="0"/>
              <a:t>Документирование кода (</a:t>
            </a:r>
            <a:r>
              <a:rPr lang="ru-RU" dirty="0" err="1"/>
              <a:t>docstrings</a:t>
            </a:r>
            <a:r>
              <a:rPr lang="ru-RU" dirty="0"/>
              <a:t>, </a:t>
            </a:r>
            <a:r>
              <a:rPr lang="ru-RU" dirty="0" err="1"/>
              <a:t>type</a:t>
            </a:r>
            <a:r>
              <a:rPr lang="ru-RU" dirty="0"/>
              <a:t> </a:t>
            </a:r>
            <a:r>
              <a:rPr lang="ru-RU" dirty="0" err="1"/>
              <a:t>hints</a:t>
            </a:r>
            <a:r>
              <a:rPr lang="ru-RU" dirty="0"/>
              <a:t>).</a:t>
            </a:r>
          </a:p>
          <a:p>
            <a:r>
              <a:rPr lang="ru-RU" dirty="0"/>
              <a:t>Покрытие кода автоматическими тестами (</a:t>
            </a:r>
            <a:r>
              <a:rPr lang="ru-RU" dirty="0" err="1"/>
              <a:t>pytest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457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Анализ предметной области / </a:t>
            </a:r>
            <a:r>
              <a:rPr lang="ru-RU" b="1" dirty="0" smtClean="0"/>
              <a:t>Аналоги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5234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Существующие решения:</a:t>
            </a:r>
            <a:endParaRPr lang="ru-RU" dirty="0"/>
          </a:p>
          <a:p>
            <a:r>
              <a:rPr lang="ru-RU" dirty="0"/>
              <a:t>1С:Предприятие — мощная, но дорогая и сложная для малого бизнеса.</a:t>
            </a:r>
          </a:p>
          <a:p>
            <a:r>
              <a:rPr lang="ru-RU" dirty="0" err="1"/>
              <a:t>Мегаплан</a:t>
            </a:r>
            <a:r>
              <a:rPr lang="ru-RU" dirty="0"/>
              <a:t>, Битрикс24 — универсальные CRM, нет специализации на грузоперевозках.</a:t>
            </a:r>
          </a:p>
          <a:p>
            <a:r>
              <a:rPr lang="ru-RU" dirty="0" err="1"/>
              <a:t>Excel</a:t>
            </a:r>
            <a:r>
              <a:rPr lang="ru-RU" dirty="0"/>
              <a:t>-таблицы — просто, но нет автоматизации.</a:t>
            </a:r>
          </a:p>
          <a:p>
            <a:r>
              <a:rPr lang="ru-RU" b="1" dirty="0"/>
              <a:t>Отличия нашего решения:</a:t>
            </a:r>
            <a:endParaRPr lang="ru-RU" dirty="0"/>
          </a:p>
          <a:p>
            <a:r>
              <a:rPr lang="ru-RU" dirty="0"/>
              <a:t>Бесплатное, открытое, легко развернуть.</a:t>
            </a:r>
          </a:p>
          <a:p>
            <a:r>
              <a:rPr lang="ru-RU" dirty="0"/>
              <a:t>Специализировано под грузоперевозки (</a:t>
            </a:r>
            <a:r>
              <a:rPr lang="ru-RU" dirty="0" err="1"/>
              <a:t>геокодирование</a:t>
            </a:r>
            <a:r>
              <a:rPr lang="ru-RU" dirty="0"/>
              <a:t>, путевые листы).</a:t>
            </a:r>
          </a:p>
          <a:p>
            <a:r>
              <a:rPr lang="ru-RU" dirty="0"/>
              <a:t>Интеграция с картами и Telegram «из коробки».</a:t>
            </a:r>
          </a:p>
          <a:p>
            <a:r>
              <a:rPr lang="ru-RU" dirty="0"/>
              <a:t>Учебный проект с качественным документированием и тестами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253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 Выбранные </a:t>
            </a:r>
            <a:r>
              <a:rPr lang="ru-RU" b="1" dirty="0" smtClean="0"/>
              <a:t>технологии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0955663"/>
              </p:ext>
            </p:extLst>
          </p:nvPr>
        </p:nvGraphicFramePr>
        <p:xfrm>
          <a:off x="1424065" y="1825627"/>
          <a:ext cx="8589364" cy="4530202"/>
        </p:xfrm>
        <a:graphic>
          <a:graphicData uri="http://schemas.openxmlformats.org/drawingml/2006/table">
            <a:tbl>
              <a:tblPr/>
              <a:tblGrid>
                <a:gridCol w="4294682">
                  <a:extLst>
                    <a:ext uri="{9D8B030D-6E8A-4147-A177-3AD203B41FA5}">
                      <a16:colId xmlns:a16="http://schemas.microsoft.com/office/drawing/2014/main" val="2970210655"/>
                    </a:ext>
                  </a:extLst>
                </a:gridCol>
                <a:gridCol w="4294682">
                  <a:extLst>
                    <a:ext uri="{9D8B030D-6E8A-4147-A177-3AD203B41FA5}">
                      <a16:colId xmlns:a16="http://schemas.microsoft.com/office/drawing/2014/main" val="321489124"/>
                    </a:ext>
                  </a:extLst>
                </a:gridCol>
              </a:tblGrid>
              <a:tr h="405194">
                <a:tc>
                  <a:txBody>
                    <a:bodyPr/>
                    <a:lstStyle/>
                    <a:p>
                      <a:pPr algn="l"/>
                      <a:r>
                        <a:rPr lang="ru-RU" sz="1500" b="0" dirty="0">
                          <a:effectLst/>
                          <a:latin typeface="quote-cjk-patch"/>
                        </a:rPr>
                        <a:t>Компонент</a:t>
                      </a:r>
                    </a:p>
                  </a:txBody>
                  <a:tcPr marL="76563" marR="127605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effectLst/>
                          <a:latin typeface="quote-cjk-patch"/>
                        </a:rPr>
                        <a:t>Назначение</a:t>
                      </a:r>
                    </a:p>
                  </a:txBody>
                  <a:tcPr marL="127605" marR="127605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680483"/>
                  </a:ext>
                </a:extLst>
              </a:tr>
              <a:tr h="644325">
                <a:tc>
                  <a:txBody>
                    <a:bodyPr/>
                    <a:lstStyle/>
                    <a:p>
                      <a:r>
                        <a:rPr lang="en-US" sz="1500" b="0" dirty="0">
                          <a:effectLst/>
                          <a:latin typeface="quote-cjk-patch"/>
                        </a:rPr>
                        <a:t>Django 6.x</a:t>
                      </a:r>
                    </a:p>
                  </a:txBody>
                  <a:tcPr marL="76563" marR="127605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Веб-фреймворк, </a:t>
                      </a:r>
                      <a:r>
                        <a:rPr lang="en-US" sz="1500" b="0">
                          <a:effectLst/>
                          <a:latin typeface="quote-cjk-patch"/>
                        </a:rPr>
                        <a:t>ORM, </a:t>
                      </a:r>
                      <a:r>
                        <a:rPr lang="ru-RU" sz="1500" b="0">
                          <a:effectLst/>
                          <a:latin typeface="quote-cjk-patch"/>
                        </a:rPr>
                        <a:t>админка, аутентификация</a:t>
                      </a:r>
                    </a:p>
                  </a:txBody>
                  <a:tcPr marL="127605" marR="76563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372503"/>
                  </a:ext>
                </a:extLst>
              </a:tr>
              <a:tr h="405194">
                <a:tc>
                  <a:txBody>
                    <a:bodyPr/>
                    <a:lstStyle/>
                    <a:p>
                      <a:r>
                        <a:rPr lang="en-US" sz="1500" b="0" dirty="0">
                          <a:effectLst/>
                          <a:latin typeface="quote-cjk-patch"/>
                        </a:rPr>
                        <a:t>Bootstrap 5</a:t>
                      </a:r>
                    </a:p>
                  </a:txBody>
                  <a:tcPr marL="76563" marR="127605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Адаптивный интерфейс</a:t>
                      </a:r>
                    </a:p>
                  </a:txBody>
                  <a:tcPr marL="127605" marR="76563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727421"/>
                  </a:ext>
                </a:extLst>
              </a:tr>
              <a:tr h="405194">
                <a:tc>
                  <a:txBody>
                    <a:bodyPr/>
                    <a:lstStyle/>
                    <a:p>
                      <a:r>
                        <a:rPr lang="en-US" sz="1500" b="0" dirty="0">
                          <a:effectLst/>
                          <a:latin typeface="quote-cjk-patch"/>
                        </a:rPr>
                        <a:t>pandas, </a:t>
                      </a:r>
                      <a:r>
                        <a:rPr lang="en-US" sz="1500" b="0" dirty="0" err="1">
                          <a:effectLst/>
                          <a:latin typeface="quote-cjk-patch"/>
                        </a:rPr>
                        <a:t>matplotlib</a:t>
                      </a:r>
                      <a:endParaRPr lang="en-US" sz="1500" b="0" dirty="0">
                        <a:effectLst/>
                        <a:latin typeface="quote-cjk-patch"/>
                      </a:endParaRPr>
                    </a:p>
                  </a:txBody>
                  <a:tcPr marL="76563" marR="127605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Аналитика и графики</a:t>
                      </a:r>
                    </a:p>
                  </a:txBody>
                  <a:tcPr marL="127605" marR="76563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32801"/>
                  </a:ext>
                </a:extLst>
              </a:tr>
              <a:tr h="644325"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requests, geopy</a:t>
                      </a:r>
                    </a:p>
                  </a:txBody>
                  <a:tcPr marL="76563" marR="127605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 err="1">
                          <a:effectLst/>
                          <a:latin typeface="quote-cjk-patch"/>
                        </a:rPr>
                        <a:t>Геокодирование</a:t>
                      </a:r>
                      <a:r>
                        <a:rPr lang="ru-RU" sz="1500" b="0" dirty="0">
                          <a:effectLst/>
                          <a:latin typeface="quote-cjk-patch"/>
                        </a:rPr>
                        <a:t>, маршруты, </a:t>
                      </a:r>
                      <a:r>
                        <a:rPr lang="en-US" sz="1500" b="0" dirty="0">
                          <a:effectLst/>
                          <a:latin typeface="quote-cjk-patch"/>
                        </a:rPr>
                        <a:t>Telegram</a:t>
                      </a:r>
                    </a:p>
                  </a:txBody>
                  <a:tcPr marL="127605" marR="76563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581501"/>
                  </a:ext>
                </a:extLst>
              </a:tr>
              <a:tr h="405194"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openpyxl</a:t>
                      </a:r>
                    </a:p>
                  </a:txBody>
                  <a:tcPr marL="76563" marR="127605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effectLst/>
                          <a:latin typeface="quote-cjk-patch"/>
                        </a:rPr>
                        <a:t>Excel-</a:t>
                      </a:r>
                      <a:r>
                        <a:rPr lang="ru-RU" sz="1500" b="0" dirty="0">
                          <a:effectLst/>
                          <a:latin typeface="quote-cjk-patch"/>
                        </a:rPr>
                        <a:t>документы</a:t>
                      </a:r>
                    </a:p>
                  </a:txBody>
                  <a:tcPr marL="127605" marR="76563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4962"/>
                  </a:ext>
                </a:extLst>
              </a:tr>
              <a:tr h="405194"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schedule</a:t>
                      </a:r>
                    </a:p>
                  </a:txBody>
                  <a:tcPr marL="76563" marR="127605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Периодические напоминания</a:t>
                      </a:r>
                    </a:p>
                  </a:txBody>
                  <a:tcPr marL="127605" marR="76563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783483"/>
                  </a:ext>
                </a:extLst>
              </a:tr>
              <a:tr h="405194">
                <a:tc>
                  <a:txBody>
                    <a:bodyPr/>
                    <a:lstStyle/>
                    <a:p>
                      <a:r>
                        <a:rPr lang="en-US" sz="1500" b="0" dirty="0">
                          <a:effectLst/>
                          <a:latin typeface="quote-cjk-patch"/>
                        </a:rPr>
                        <a:t>SMTP (</a:t>
                      </a:r>
                      <a:r>
                        <a:rPr lang="en-US" sz="1500" b="0" u="none" strike="noStrike" dirty="0">
                          <a:solidFill>
                            <a:srgbClr val="3964FE"/>
                          </a:solidFill>
                          <a:effectLst/>
                          <a:latin typeface="quote-cjk-patch"/>
                          <a:hlinkClick r:id="rId2"/>
                        </a:rPr>
                        <a:t>Mail.ru</a:t>
                      </a:r>
                      <a:r>
                        <a:rPr lang="en-US" sz="1500" b="0" dirty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76563" marR="127605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effectLst/>
                          <a:latin typeface="quote-cjk-patch"/>
                        </a:rPr>
                        <a:t>Email-</a:t>
                      </a:r>
                      <a:r>
                        <a:rPr lang="ru-RU" sz="1500" b="0" dirty="0">
                          <a:effectLst/>
                          <a:latin typeface="quote-cjk-patch"/>
                        </a:rPr>
                        <a:t>уведомления</a:t>
                      </a:r>
                    </a:p>
                  </a:txBody>
                  <a:tcPr marL="127605" marR="76563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44844"/>
                  </a:ext>
                </a:extLst>
              </a:tr>
              <a:tr h="405194"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pytest, pytest-django</a:t>
                      </a:r>
                    </a:p>
                  </a:txBody>
                  <a:tcPr marL="76563" marR="127605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Автоматическое тестирование</a:t>
                      </a:r>
                    </a:p>
                  </a:txBody>
                  <a:tcPr marL="127605" marR="76563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974460"/>
                  </a:ext>
                </a:extLst>
              </a:tr>
              <a:tr h="405194">
                <a:tc>
                  <a:txBody>
                    <a:bodyPr/>
                    <a:lstStyle/>
                    <a:p>
                      <a:r>
                        <a:rPr lang="en-US" sz="1500" b="0" dirty="0">
                          <a:effectLst/>
                          <a:latin typeface="quote-cjk-patch"/>
                        </a:rPr>
                        <a:t>Python </a:t>
                      </a:r>
                      <a:r>
                        <a:rPr lang="en-US" sz="1500" b="0" dirty="0" smtClean="0">
                          <a:effectLst/>
                          <a:latin typeface="quote-cjk-patch"/>
                        </a:rPr>
                        <a:t>3.10</a:t>
                      </a:r>
                      <a:endParaRPr lang="en-US" sz="1500" b="0" dirty="0">
                        <a:effectLst/>
                        <a:latin typeface="quote-cjk-patch"/>
                      </a:endParaRPr>
                    </a:p>
                  </a:txBody>
                  <a:tcPr marL="76563" marR="127605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Язык разработки</a:t>
                      </a:r>
                    </a:p>
                  </a:txBody>
                  <a:tcPr marL="127605" marR="76563" marT="79753" marB="79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079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02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Архитектура системы (</a:t>
            </a:r>
            <a:r>
              <a:rPr lang="en-US" b="1" dirty="0"/>
              <a:t>MVT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Модели (</a:t>
            </a:r>
            <a:r>
              <a:rPr lang="en-US" dirty="0" smtClean="0"/>
              <a:t>Models):</a:t>
            </a:r>
          </a:p>
          <a:p>
            <a:r>
              <a:rPr lang="en-US" dirty="0" smtClean="0"/>
              <a:t>Customer, Driver, Vehicle, Tariff, Order, Assignment, Payment, </a:t>
            </a:r>
            <a:r>
              <a:rPr lang="en-US" dirty="0" err="1" smtClean="0"/>
              <a:t>UserProfile</a:t>
            </a:r>
            <a:r>
              <a:rPr lang="en-US" dirty="0" smtClean="0"/>
              <a:t>, </a:t>
            </a:r>
            <a:r>
              <a:rPr lang="en-US" dirty="0" err="1" smtClean="0"/>
              <a:t>OrderStatusHistory</a:t>
            </a:r>
            <a:r>
              <a:rPr lang="en-US" dirty="0" smtClean="0"/>
              <a:t>.</a:t>
            </a:r>
          </a:p>
          <a:p>
            <a:r>
              <a:rPr lang="ru-RU" dirty="0" smtClean="0"/>
              <a:t>Представления (</a:t>
            </a:r>
            <a:r>
              <a:rPr lang="en-US" dirty="0" smtClean="0"/>
              <a:t>Views):</a:t>
            </a:r>
          </a:p>
          <a:p>
            <a:r>
              <a:rPr lang="en-US" dirty="0" smtClean="0"/>
              <a:t>CRUD </a:t>
            </a:r>
            <a:r>
              <a:rPr lang="ru-RU" dirty="0" smtClean="0"/>
              <a:t>для всех сущностей, назначение рейсов, смена статусов, аналитика, экспорт, уведомления.</a:t>
            </a:r>
          </a:p>
          <a:p>
            <a:r>
              <a:rPr lang="ru-RU" dirty="0" smtClean="0"/>
              <a:t>Шаблоны (</a:t>
            </a:r>
            <a:r>
              <a:rPr lang="en-US" dirty="0" smtClean="0"/>
              <a:t>Templates):</a:t>
            </a:r>
          </a:p>
          <a:p>
            <a:r>
              <a:rPr lang="en-US" dirty="0" smtClean="0"/>
              <a:t>Bootstrap-</a:t>
            </a:r>
            <a:r>
              <a:rPr lang="ru-RU" dirty="0" smtClean="0"/>
              <a:t>страницы с разделением по ролям.</a:t>
            </a:r>
          </a:p>
          <a:p>
            <a:r>
              <a:rPr lang="ru-RU" dirty="0" smtClean="0"/>
              <a:t>Внешние модули:</a:t>
            </a:r>
          </a:p>
          <a:p>
            <a:r>
              <a:rPr lang="en-US" dirty="0" smtClean="0"/>
              <a:t>crm/bot.py (Telegram), crm/documents.py (</a:t>
            </a:r>
            <a:r>
              <a:rPr lang="ru-RU" dirty="0" smtClean="0"/>
              <a:t>документы), </a:t>
            </a:r>
            <a:r>
              <a:rPr lang="en-US" dirty="0" smtClean="0"/>
              <a:t>management-</a:t>
            </a:r>
            <a:r>
              <a:rPr lang="ru-RU" dirty="0" smtClean="0"/>
              <a:t>команды </a:t>
            </a:r>
            <a:r>
              <a:rPr lang="en-US" dirty="0" err="1" smtClean="0"/>
              <a:t>runbot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err="1" smtClean="0"/>
              <a:t>runscheduler</a:t>
            </a:r>
            <a:r>
              <a:rPr lang="en-US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9598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/>
              <a:t>Ролевая </a:t>
            </a:r>
            <a:r>
              <a:rPr lang="ru-RU" b="1" dirty="0" smtClean="0"/>
              <a:t>модель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Диспетчер — полный доступ: создание заказов, назначение, платежи, аналитика, документы.</a:t>
            </a:r>
          </a:p>
          <a:p>
            <a:r>
              <a:rPr lang="ru-RU" dirty="0" smtClean="0"/>
              <a:t>Водитель — видит назначенные рейсы, может менять статус (в пути / завершён).</a:t>
            </a:r>
          </a:p>
          <a:p>
            <a:r>
              <a:rPr lang="ru-RU" dirty="0" smtClean="0"/>
              <a:t>Клиент — видит свои заказы, может оплатить выполненный заказ.</a:t>
            </a:r>
          </a:p>
          <a:p>
            <a:r>
              <a:rPr lang="ru-RU" dirty="0" smtClean="0"/>
              <a:t>Проверка ролей реализована через </a:t>
            </a:r>
            <a:r>
              <a:rPr lang="ru-RU" dirty="0" err="1" smtClean="0"/>
              <a:t>миксины</a:t>
            </a:r>
            <a:r>
              <a:rPr lang="ru-RU" dirty="0" smtClean="0"/>
              <a:t> </a:t>
            </a:r>
            <a:r>
              <a:rPr lang="ru-RU" dirty="0" err="1" smtClean="0"/>
              <a:t>UserPassesTestMixin</a:t>
            </a:r>
            <a:r>
              <a:rPr lang="ru-RU" dirty="0" smtClean="0"/>
              <a:t> и декораторы @</a:t>
            </a:r>
            <a:r>
              <a:rPr lang="ru-RU" dirty="0" err="1" smtClean="0"/>
              <a:t>user_passes_test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0234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Ключевые функции </a:t>
            </a:r>
            <a:r>
              <a:rPr lang="ru-RU" b="1" dirty="0" smtClean="0"/>
              <a:t>системы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Расчёт расстояния по дорогам (</a:t>
            </a:r>
            <a:r>
              <a:rPr lang="ru-RU" dirty="0" err="1"/>
              <a:t>Яндекс.Маршруты</a:t>
            </a:r>
            <a:r>
              <a:rPr lang="ru-RU" dirty="0"/>
              <a:t> / OSRM).</a:t>
            </a:r>
          </a:p>
          <a:p>
            <a:r>
              <a:rPr lang="ru-RU" dirty="0"/>
              <a:t>Автоматический расчёт стоимости по тарифу.</a:t>
            </a:r>
          </a:p>
          <a:p>
            <a:r>
              <a:rPr lang="ru-RU" dirty="0"/>
              <a:t>Карта с меткой точки подачи (Яндекс </a:t>
            </a:r>
            <a:r>
              <a:rPr lang="ru-RU" dirty="0" err="1"/>
              <a:t>Static</a:t>
            </a:r>
            <a:r>
              <a:rPr lang="ru-RU" dirty="0"/>
              <a:t> API).</a:t>
            </a:r>
          </a:p>
          <a:p>
            <a:r>
              <a:rPr lang="ru-RU" dirty="0"/>
              <a:t>История изменения статусов заказа.</a:t>
            </a:r>
          </a:p>
          <a:p>
            <a:r>
              <a:rPr lang="ru-RU" dirty="0" err="1"/>
              <a:t>Email</a:t>
            </a:r>
            <a:r>
              <a:rPr lang="ru-RU" dirty="0"/>
              <a:t>-уведомления </a:t>
            </a:r>
            <a:r>
              <a:rPr lang="ru-RU" dirty="0" smtClean="0"/>
              <a:t>клиентам.</a:t>
            </a:r>
            <a:endParaRPr lang="ru-RU" dirty="0"/>
          </a:p>
          <a:p>
            <a:r>
              <a:rPr lang="ru-RU" dirty="0"/>
              <a:t>Telegram-уведомления водителям.</a:t>
            </a:r>
          </a:p>
          <a:p>
            <a:r>
              <a:rPr lang="ru-RU" dirty="0" err="1"/>
              <a:t>Дашборд</a:t>
            </a:r>
            <a:r>
              <a:rPr lang="ru-RU" dirty="0"/>
              <a:t> аналитики: выручка, топ-5 клиентов, загрузка водителей, статусы.</a:t>
            </a:r>
          </a:p>
          <a:p>
            <a:r>
              <a:rPr lang="ru-RU" dirty="0"/>
              <a:t>Экспорт путевого листа, счёта, акта (</a:t>
            </a:r>
            <a:r>
              <a:rPr lang="ru-RU" dirty="0" err="1"/>
              <a:t>Excel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514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/>
              <a:t>Пример кода: </a:t>
            </a:r>
            <a:r>
              <a:rPr lang="ru-RU" b="1" dirty="0" err="1"/>
              <a:t>геокодирование</a:t>
            </a:r>
            <a:r>
              <a:rPr lang="ru-RU" b="1" dirty="0"/>
              <a:t> и расчёт </a:t>
            </a:r>
            <a:r>
              <a:rPr lang="ru-RU" b="1" dirty="0" smtClean="0"/>
              <a:t>расстояния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9705" y="1825625"/>
            <a:ext cx="11407515" cy="463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def</a:t>
            </a:r>
            <a:r>
              <a:rPr lang="en-US" sz="2000" dirty="0" smtClean="0"/>
              <a:t> _</a:t>
            </a:r>
            <a:r>
              <a:rPr lang="en-US" sz="2000" dirty="0" err="1" smtClean="0"/>
              <a:t>geocode_with_yandex</a:t>
            </a:r>
            <a:r>
              <a:rPr lang="en-US" sz="2000" dirty="0" smtClean="0"/>
              <a:t>(self, address: </a:t>
            </a:r>
            <a:r>
              <a:rPr lang="en-US" sz="2000" dirty="0" err="1" smtClean="0"/>
              <a:t>str</a:t>
            </a:r>
            <a:r>
              <a:rPr lang="en-US" sz="2000" dirty="0" smtClean="0"/>
              <a:t>) -&gt; tuple[float | None, float | None]:</a:t>
            </a:r>
          </a:p>
          <a:p>
            <a:pPr marL="0" indent="0">
              <a:buNone/>
            </a:pPr>
            <a:r>
              <a:rPr lang="en-US" sz="2000" dirty="0" smtClean="0"/>
              <a:t>"""</a:t>
            </a:r>
            <a:r>
              <a:rPr lang="ru-RU" sz="2000" dirty="0" err="1" smtClean="0"/>
              <a:t>Геокодирует</a:t>
            </a:r>
            <a:r>
              <a:rPr lang="ru-RU" sz="2000" dirty="0" smtClean="0"/>
              <a:t> адрес с помощью </a:t>
            </a:r>
            <a:r>
              <a:rPr lang="en-US" sz="2000" dirty="0" smtClean="0"/>
              <a:t>API </a:t>
            </a:r>
            <a:r>
              <a:rPr lang="ru-RU" sz="2000" dirty="0" smtClean="0"/>
              <a:t>Яндекса."""</a:t>
            </a:r>
          </a:p>
          <a:p>
            <a:pPr marL="0" indent="0">
              <a:buNone/>
            </a:pPr>
            <a:r>
              <a:rPr lang="ru-RU" sz="2000" dirty="0" smtClean="0"/>
              <a:t>    </a:t>
            </a:r>
            <a:r>
              <a:rPr lang="en-US" sz="2000" dirty="0" err="1" smtClean="0"/>
              <a:t>base_url</a:t>
            </a:r>
            <a:r>
              <a:rPr lang="en-US" sz="2000" dirty="0" smtClean="0"/>
              <a:t> = "https://geocode-maps.yandex.ru/1.x/"</a:t>
            </a:r>
          </a:p>
          <a:p>
            <a:pPr marL="0" indent="0"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params</a:t>
            </a:r>
            <a:r>
              <a:rPr lang="en-US" sz="2000" dirty="0" smtClean="0"/>
              <a:t> = {</a:t>
            </a:r>
          </a:p>
          <a:p>
            <a:pPr marL="0" indent="0">
              <a:buNone/>
            </a:pPr>
            <a:r>
              <a:rPr lang="en-US" sz="2000" dirty="0" smtClean="0"/>
              <a:t>        "geocode": address,</a:t>
            </a:r>
          </a:p>
          <a:p>
            <a:pPr marL="0" indent="0">
              <a:buNone/>
            </a:pPr>
            <a:r>
              <a:rPr lang="en-US" sz="2000" dirty="0" smtClean="0"/>
              <a:t>        "format": "</a:t>
            </a:r>
            <a:r>
              <a:rPr lang="en-US" sz="2000" dirty="0" err="1" smtClean="0"/>
              <a:t>json</a:t>
            </a:r>
            <a:r>
              <a:rPr lang="en-US" sz="2000" dirty="0" smtClean="0"/>
              <a:t>",</a:t>
            </a:r>
          </a:p>
          <a:p>
            <a:pPr marL="0" indent="0">
              <a:buNone/>
            </a:pPr>
            <a:r>
              <a:rPr lang="en-US" sz="2000" dirty="0" smtClean="0"/>
              <a:t>        "results": 1,</a:t>
            </a:r>
          </a:p>
          <a:p>
            <a:pPr marL="0" indent="0">
              <a:buNone/>
            </a:pPr>
            <a:r>
              <a:rPr lang="en-US" sz="2000" dirty="0" smtClean="0"/>
              <a:t>        "</a:t>
            </a:r>
            <a:r>
              <a:rPr lang="en-US" sz="2000" dirty="0" err="1" smtClean="0"/>
              <a:t>apikey</a:t>
            </a:r>
            <a:r>
              <a:rPr lang="en-US" sz="2000" dirty="0" smtClean="0"/>
              <a:t>": </a:t>
            </a:r>
            <a:r>
              <a:rPr lang="en-US" sz="2000" dirty="0" err="1" smtClean="0"/>
              <a:t>settings.YANDEX_GEOCODER_API_KEY</a:t>
            </a:r>
            <a:r>
              <a:rPr lang="en-US" sz="2000" dirty="0" smtClean="0"/>
              <a:t>,</a:t>
            </a:r>
          </a:p>
          <a:p>
            <a:pPr marL="0" indent="0">
              <a:buNone/>
            </a:pPr>
            <a:r>
              <a:rPr lang="en-US" sz="2000" dirty="0" smtClean="0"/>
              <a:t>        "</a:t>
            </a:r>
            <a:r>
              <a:rPr lang="en-US" sz="2000" dirty="0" err="1" smtClean="0"/>
              <a:t>lang</a:t>
            </a:r>
            <a:r>
              <a:rPr lang="en-US" sz="2000" dirty="0" smtClean="0"/>
              <a:t>": "</a:t>
            </a:r>
            <a:r>
              <a:rPr lang="en-US" sz="2000" dirty="0" err="1" smtClean="0"/>
              <a:t>ru_RU</a:t>
            </a:r>
            <a:r>
              <a:rPr lang="en-US" sz="2000" dirty="0" smtClean="0"/>
              <a:t>",</a:t>
            </a:r>
          </a:p>
          <a:p>
            <a:pPr marL="0" indent="0">
              <a:buNone/>
            </a:pPr>
            <a:r>
              <a:rPr lang="en-US" sz="2000" dirty="0" smtClean="0"/>
              <a:t>    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43642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118172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Пример кода: </a:t>
            </a:r>
            <a:r>
              <a:rPr lang="ru-RU" b="1" dirty="0" smtClean="0"/>
              <a:t>Telegram-уведомление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4715" y="1334125"/>
            <a:ext cx="11572405" cy="53814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 err="1" smtClean="0"/>
              <a:t>def</a:t>
            </a:r>
            <a:r>
              <a:rPr lang="en-US" sz="1400" dirty="0" smtClean="0"/>
              <a:t> </a:t>
            </a:r>
            <a:r>
              <a:rPr lang="en-US" sz="1400" dirty="0" err="1" smtClean="0"/>
              <a:t>send_telegram_message</a:t>
            </a:r>
            <a:r>
              <a:rPr lang="en-US" sz="1400" dirty="0" smtClean="0"/>
              <a:t>(</a:t>
            </a:r>
            <a:r>
              <a:rPr lang="en-US" sz="1400" dirty="0" err="1" smtClean="0"/>
              <a:t>telegram_id</a:t>
            </a:r>
            <a:r>
              <a:rPr lang="en-US" sz="1400" dirty="0" smtClean="0"/>
              <a:t>: </a:t>
            </a:r>
            <a:r>
              <a:rPr lang="en-US" sz="1400" dirty="0" err="1" smtClean="0"/>
              <a:t>int</a:t>
            </a:r>
            <a:r>
              <a:rPr lang="en-US" sz="1400" dirty="0" smtClean="0"/>
              <a:t>, text: </a:t>
            </a:r>
            <a:r>
              <a:rPr lang="en-US" sz="1400" dirty="0" err="1" smtClean="0"/>
              <a:t>str</a:t>
            </a:r>
            <a:r>
              <a:rPr lang="en-US" sz="1400" dirty="0" smtClean="0"/>
              <a:t>) -&gt; None:</a:t>
            </a:r>
          </a:p>
          <a:p>
            <a:pPr marL="0" indent="0">
              <a:buNone/>
            </a:pPr>
            <a:r>
              <a:rPr lang="en-US" sz="1400" dirty="0" smtClean="0"/>
              <a:t>    """</a:t>
            </a:r>
            <a:r>
              <a:rPr lang="ru-RU" sz="1400" dirty="0" smtClean="0"/>
              <a:t>Отправляет текстовое сообщение пользователю </a:t>
            </a:r>
            <a:r>
              <a:rPr lang="en-US" sz="1400" dirty="0" smtClean="0"/>
              <a:t>Telegram."""</a:t>
            </a:r>
          </a:p>
          <a:p>
            <a:pPr marL="0" indent="0">
              <a:buNone/>
            </a:pPr>
            <a:r>
              <a:rPr lang="en-US" sz="1400" dirty="0" smtClean="0"/>
              <a:t>    </a:t>
            </a:r>
            <a:r>
              <a:rPr lang="en-US" sz="1400" dirty="0" err="1" smtClean="0"/>
              <a:t>url</a:t>
            </a:r>
            <a:r>
              <a:rPr lang="en-US" sz="1400" dirty="0" smtClean="0"/>
              <a:t> = </a:t>
            </a:r>
            <a:r>
              <a:rPr lang="en-US" sz="1400" dirty="0" err="1" smtClean="0"/>
              <a:t>f"https</a:t>
            </a:r>
            <a:r>
              <a:rPr lang="en-US" sz="1400" dirty="0" smtClean="0"/>
              <a:t>://api.telegram.org/bot{TOKEN}/</a:t>
            </a:r>
            <a:r>
              <a:rPr lang="en-US" sz="1400" dirty="0" err="1" smtClean="0"/>
              <a:t>sendMessage</a:t>
            </a:r>
            <a:r>
              <a:rPr lang="en-US" sz="1400" dirty="0" smtClean="0"/>
              <a:t>"</a:t>
            </a:r>
          </a:p>
          <a:p>
            <a:pPr marL="0" indent="0">
              <a:buNone/>
            </a:pPr>
            <a:r>
              <a:rPr lang="en-US" sz="1400" dirty="0" smtClean="0"/>
              <a:t>    payload = {'</a:t>
            </a:r>
            <a:r>
              <a:rPr lang="en-US" sz="1400" dirty="0" err="1" smtClean="0"/>
              <a:t>chat_id</a:t>
            </a:r>
            <a:r>
              <a:rPr lang="en-US" sz="1400" dirty="0" smtClean="0"/>
              <a:t>': </a:t>
            </a:r>
            <a:r>
              <a:rPr lang="en-US" sz="1400" dirty="0" err="1" smtClean="0"/>
              <a:t>telegram_id</a:t>
            </a:r>
            <a:r>
              <a:rPr lang="en-US" sz="1400" dirty="0" smtClean="0"/>
              <a:t>, 'text': text}</a:t>
            </a:r>
          </a:p>
          <a:p>
            <a:pPr marL="0" indent="0">
              <a:buNone/>
            </a:pPr>
            <a:r>
              <a:rPr lang="en-US" sz="1400" dirty="0" smtClean="0"/>
              <a:t>    try:</a:t>
            </a:r>
          </a:p>
          <a:p>
            <a:pPr marL="0" indent="0">
              <a:buNone/>
            </a:pPr>
            <a:r>
              <a:rPr lang="en-US" sz="1400" dirty="0" smtClean="0"/>
              <a:t>        response = </a:t>
            </a:r>
            <a:r>
              <a:rPr lang="en-US" sz="1400" dirty="0" err="1" smtClean="0"/>
              <a:t>requests.post</a:t>
            </a:r>
            <a:r>
              <a:rPr lang="en-US" sz="1400" dirty="0" smtClean="0"/>
              <a:t>(</a:t>
            </a:r>
            <a:r>
              <a:rPr lang="en-US" sz="1400" dirty="0" err="1" smtClean="0"/>
              <a:t>url</a:t>
            </a:r>
            <a:r>
              <a:rPr lang="en-US" sz="1400" dirty="0" smtClean="0"/>
              <a:t>, data=payload, timeout=10)</a:t>
            </a:r>
          </a:p>
          <a:p>
            <a:pPr marL="0" indent="0">
              <a:buNone/>
            </a:pPr>
            <a:r>
              <a:rPr lang="en-US" sz="1400" dirty="0" smtClean="0"/>
              <a:t>        # </a:t>
            </a:r>
            <a:r>
              <a:rPr lang="ru-RU" sz="1400" dirty="0" smtClean="0"/>
              <a:t>проверка статуса</a:t>
            </a:r>
          </a:p>
          <a:p>
            <a:pPr marL="0" indent="0">
              <a:buNone/>
            </a:pPr>
            <a:r>
              <a:rPr lang="ru-RU" sz="1400" dirty="0" smtClean="0"/>
              <a:t>    </a:t>
            </a:r>
            <a:r>
              <a:rPr lang="en-US" sz="1400" dirty="0" smtClean="0"/>
              <a:t>except Exception as e:</a:t>
            </a:r>
          </a:p>
          <a:p>
            <a:pPr marL="0" indent="0">
              <a:buNone/>
            </a:pPr>
            <a:r>
              <a:rPr lang="en-US" sz="1400" dirty="0" smtClean="0"/>
              <a:t>        print(f"</a:t>
            </a:r>
            <a:r>
              <a:rPr lang="ru-RU" sz="1400" dirty="0" smtClean="0"/>
              <a:t>Ошибка отправки сообщения: {</a:t>
            </a:r>
            <a:r>
              <a:rPr lang="en-US" sz="1400" dirty="0" smtClean="0"/>
              <a:t>e}")</a:t>
            </a:r>
          </a:p>
          <a:p>
            <a:pPr marL="0" indent="0">
              <a:buNone/>
            </a:pPr>
            <a:r>
              <a:rPr lang="ru-RU" sz="1400" dirty="0" smtClean="0"/>
              <a:t>Вызов в представлении </a:t>
            </a:r>
            <a:r>
              <a:rPr lang="en-US" sz="1400" dirty="0" err="1" smtClean="0"/>
              <a:t>assign_order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if </a:t>
            </a:r>
            <a:r>
              <a:rPr lang="en-US" sz="1400" dirty="0" err="1" smtClean="0"/>
              <a:t>assignment.driver.telegram_id</a:t>
            </a:r>
            <a:r>
              <a:rPr lang="en-US" sz="1400" dirty="0" smtClean="0"/>
              <a:t>:</a:t>
            </a:r>
          </a:p>
          <a:p>
            <a:pPr marL="0" indent="0">
              <a:buNone/>
            </a:pPr>
            <a:r>
              <a:rPr lang="en-US" sz="1400" dirty="0" smtClean="0"/>
              <a:t>    </a:t>
            </a:r>
            <a:r>
              <a:rPr lang="en-US" sz="1400" dirty="0" err="1" smtClean="0"/>
              <a:t>send_telegram_message</a:t>
            </a:r>
            <a:r>
              <a:rPr lang="en-US" sz="1400" dirty="0" smtClean="0"/>
              <a:t>(</a:t>
            </a:r>
          </a:p>
          <a:p>
            <a:pPr marL="0" indent="0">
              <a:buNone/>
            </a:pPr>
            <a:r>
              <a:rPr lang="en-US" sz="1400" dirty="0" smtClean="0"/>
              <a:t>        </a:t>
            </a:r>
            <a:r>
              <a:rPr lang="en-US" sz="1400" dirty="0" err="1" smtClean="0"/>
              <a:t>assignment.driver.telegram_id</a:t>
            </a:r>
            <a:r>
              <a:rPr lang="en-US" sz="1400" dirty="0" smtClean="0"/>
              <a:t>,</a:t>
            </a:r>
          </a:p>
          <a:p>
            <a:pPr marL="0" indent="0">
              <a:buNone/>
            </a:pPr>
            <a:r>
              <a:rPr lang="en-US" sz="1400" dirty="0" smtClean="0"/>
              <a:t>        f"</a:t>
            </a:r>
            <a:r>
              <a:rPr lang="ru-RU" sz="1400" dirty="0" smtClean="0"/>
              <a:t>Вам назначен рейс №{</a:t>
            </a:r>
            <a:r>
              <a:rPr lang="en-US" sz="1400" dirty="0" smtClean="0"/>
              <a:t>order.id}\n"</a:t>
            </a:r>
          </a:p>
          <a:p>
            <a:pPr marL="0" indent="0">
              <a:buNone/>
            </a:pPr>
            <a:r>
              <a:rPr lang="en-US" sz="1400" dirty="0" smtClean="0"/>
              <a:t>        f"</a:t>
            </a:r>
            <a:r>
              <a:rPr lang="ru-RU" sz="1400" dirty="0" smtClean="0"/>
              <a:t>Маршрут: {</a:t>
            </a:r>
            <a:r>
              <a:rPr lang="en-US" sz="1400" dirty="0" err="1" smtClean="0"/>
              <a:t>order.pickup_address</a:t>
            </a:r>
            <a:r>
              <a:rPr lang="en-US" sz="1400" dirty="0" smtClean="0"/>
              <a:t>} → {</a:t>
            </a:r>
            <a:r>
              <a:rPr lang="en-US" sz="1400" dirty="0" err="1" smtClean="0"/>
              <a:t>order.delivery_address</a:t>
            </a:r>
            <a:r>
              <a:rPr lang="en-US" sz="1400" dirty="0" smtClean="0"/>
              <a:t>}\n"</a:t>
            </a:r>
          </a:p>
          <a:p>
            <a:pPr marL="0" indent="0">
              <a:buNone/>
            </a:pPr>
            <a:r>
              <a:rPr lang="en-US" sz="1400" dirty="0" smtClean="0"/>
              <a:t>        f"</a:t>
            </a:r>
            <a:r>
              <a:rPr lang="ru-RU" sz="1400" dirty="0" smtClean="0"/>
              <a:t>Дата: {</a:t>
            </a:r>
            <a:r>
              <a:rPr lang="en-US" sz="1400" dirty="0" err="1" smtClean="0"/>
              <a:t>order.requested_date</a:t>
            </a:r>
            <a:r>
              <a:rPr lang="en-US" sz="1400" dirty="0" smtClean="0"/>
              <a:t>}"</a:t>
            </a:r>
          </a:p>
          <a:p>
            <a:pPr marL="0" indent="0">
              <a:buNone/>
            </a:pPr>
            <a:r>
              <a:rPr lang="en-US" sz="1400" dirty="0" smtClean="0"/>
              <a:t>    )</a:t>
            </a:r>
          </a:p>
          <a:p>
            <a:endParaRPr lang="ru-RU" sz="14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Вызов в представлении </a:t>
            </a:r>
            <a:r>
              <a:rPr kumimoji="0" lang="ru-RU" altLang="ru-RU" b="0" i="0" u="none" strike="noStrike" cap="none" normalizeH="0" baseline="0" smtClean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assign_order</a:t>
            </a: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Вызов в представлении </a:t>
            </a:r>
            <a:r>
              <a:rPr kumimoji="0" lang="ru-RU" altLang="ru-RU" b="0" i="0" u="none" strike="noStrike" cap="none" normalizeH="0" baseline="0" smtClean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assign_order</a:t>
            </a: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200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3354" y="290175"/>
            <a:ext cx="10515600" cy="1583596"/>
          </a:xfrm>
        </p:spPr>
        <p:txBody>
          <a:bodyPr/>
          <a:lstStyle/>
          <a:p>
            <a:pPr algn="ctr"/>
            <a:r>
              <a:rPr lang="ru-RU" b="1" dirty="0"/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4754" y="1111952"/>
            <a:ext cx="11332564" cy="31779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Скриншоты интерфейса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236590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90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/>
              <a:t>Список заказов с поиском и фильтрацией.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9016"/>
            <a:ext cx="10515600" cy="494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9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Карточка заказа с картой, историей статусов и кнопками документов</a:t>
            </a:r>
            <a:r>
              <a:rPr lang="ru-RU" sz="3600" dirty="0" smtClean="0"/>
              <a:t>.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58780" y="1690688"/>
            <a:ext cx="7734925" cy="2641469"/>
          </a:xfrm>
          <a:prstGeom prst="rect">
            <a:avLst/>
          </a:prstGeom>
        </p:spPr>
      </p:pic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858780" y="4661942"/>
            <a:ext cx="7734925" cy="189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844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/>
              <a:t>Личный кабинет </a:t>
            </a:r>
            <a:r>
              <a:rPr lang="ru-RU" sz="3200" b="1" dirty="0" smtClean="0"/>
              <a:t>водителя</a:t>
            </a:r>
            <a:endParaRPr lang="ru-RU" sz="3200" b="1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8977"/>
            <a:ext cx="10515600" cy="490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91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9039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Личный кабинет клиента с </a:t>
            </a:r>
            <a:r>
              <a:rPr lang="ru-RU" sz="3200" b="1" dirty="0" smtClean="0"/>
              <a:t>кнопкой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7728" y="1393825"/>
            <a:ext cx="10196544" cy="508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646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9019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Аналитическая панель с графиками</a:t>
            </a:r>
            <a:r>
              <a:rPr lang="ru-RU" sz="3200" b="1" dirty="0" smtClean="0"/>
              <a:t>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7875" y="1304144"/>
            <a:ext cx="6026046" cy="530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90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49902"/>
            <a:ext cx="10515600" cy="809468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Тестирование / </a:t>
            </a:r>
            <a:r>
              <a:rPr lang="ru-RU" sz="3200" b="1" dirty="0" err="1" smtClean="0"/>
              <a:t>Валидация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4597" y="839449"/>
            <a:ext cx="11032759" cy="5771213"/>
          </a:xfrm>
        </p:spPr>
        <p:txBody>
          <a:bodyPr>
            <a:noAutofit/>
          </a:bodyPr>
          <a:lstStyle/>
          <a:p>
            <a:r>
              <a:rPr lang="ru-RU" sz="2400" dirty="0" smtClean="0"/>
              <a:t>Методы тестирования:</a:t>
            </a:r>
          </a:p>
          <a:p>
            <a:r>
              <a:rPr lang="ru-RU" sz="2400" dirty="0" smtClean="0"/>
              <a:t>Модульное тестирование с использованием </a:t>
            </a:r>
            <a:r>
              <a:rPr lang="ru-RU" sz="2400" dirty="0" err="1" smtClean="0"/>
              <a:t>pytest</a:t>
            </a:r>
            <a:r>
              <a:rPr lang="ru-RU" sz="2400" dirty="0" smtClean="0"/>
              <a:t> и </a:t>
            </a:r>
            <a:r>
              <a:rPr lang="ru-RU" sz="2400" dirty="0" err="1" smtClean="0"/>
              <a:t>pytest-django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Автоматическая проверка моделей, форм, представлений и бизнес-логики.</a:t>
            </a:r>
          </a:p>
          <a:p>
            <a:r>
              <a:rPr lang="ru-RU" sz="2400" dirty="0" smtClean="0"/>
              <a:t>Ручное функциональное тестирование по полному чек-листу (все роли, уведомления, документы).</a:t>
            </a:r>
          </a:p>
          <a:p>
            <a:r>
              <a:rPr lang="ru-RU" sz="2400" dirty="0" smtClean="0"/>
              <a:t>Тестирование </a:t>
            </a:r>
            <a:r>
              <a:rPr lang="ru-RU" sz="2400" dirty="0" err="1" smtClean="0"/>
              <a:t>email</a:t>
            </a:r>
            <a:r>
              <a:rPr lang="ru-RU" sz="2400" dirty="0" smtClean="0"/>
              <a:t>-отправки через консольный </a:t>
            </a:r>
            <a:r>
              <a:rPr lang="ru-RU" sz="2400" dirty="0" err="1" smtClean="0"/>
              <a:t>бэкенд</a:t>
            </a:r>
            <a:r>
              <a:rPr lang="ru-RU" sz="2400" dirty="0" smtClean="0"/>
              <a:t> и реальный SMTP.</a:t>
            </a:r>
          </a:p>
          <a:p>
            <a:r>
              <a:rPr lang="ru-RU" sz="2400" dirty="0" err="1" smtClean="0"/>
              <a:t>Валидация</a:t>
            </a:r>
            <a:r>
              <a:rPr lang="ru-RU" sz="2400" dirty="0" smtClean="0"/>
              <a:t> расчёта расстояния и стоимости на реальных адресах.</a:t>
            </a:r>
          </a:p>
          <a:p>
            <a:r>
              <a:rPr lang="ru-RU" sz="2400" dirty="0" smtClean="0"/>
              <a:t>Результаты тестирования:</a:t>
            </a:r>
          </a:p>
          <a:p>
            <a:r>
              <a:rPr lang="ru-RU" sz="2400" dirty="0" smtClean="0"/>
              <a:t>Написано и успешно выполняется 10 автоматических тестов.</a:t>
            </a:r>
          </a:p>
          <a:p>
            <a:r>
              <a:rPr lang="ru-RU" sz="2400" dirty="0" smtClean="0"/>
              <a:t>Все тесты проходят (10/10), регрессионные ошибки исключены.</a:t>
            </a:r>
          </a:p>
          <a:p>
            <a:r>
              <a:rPr lang="ru-RU" sz="2400" dirty="0" smtClean="0"/>
              <a:t>Поставленные цели достигнуты полностью.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61297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58744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Достижения целей </a:t>
            </a:r>
            <a:r>
              <a:rPr lang="ru-RU" sz="3200" b="1" dirty="0" smtClean="0"/>
              <a:t>проекта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53652"/>
            <a:ext cx="10515600" cy="4123311"/>
          </a:xfrm>
        </p:spPr>
        <p:txBody>
          <a:bodyPr/>
          <a:lstStyle/>
          <a:p>
            <a:r>
              <a:rPr lang="ru-RU" dirty="0"/>
              <a:t>Реализована полнофункциональная CRM для грузоперевозок.</a:t>
            </a:r>
          </a:p>
          <a:p>
            <a:r>
              <a:rPr lang="ru-RU" dirty="0"/>
              <a:t>Автоматизированы ключевые бизнес-процессы.</a:t>
            </a:r>
          </a:p>
          <a:p>
            <a:r>
              <a:rPr lang="ru-RU" dirty="0"/>
              <a:t>Обеспечено разграничение доступа по ролям.</a:t>
            </a:r>
          </a:p>
          <a:p>
            <a:r>
              <a:rPr lang="ru-RU" dirty="0"/>
              <a:t>Внедрены уведомления (</a:t>
            </a:r>
            <a:r>
              <a:rPr lang="ru-RU" dirty="0" err="1"/>
              <a:t>email</a:t>
            </a:r>
            <a:r>
              <a:rPr lang="ru-RU" dirty="0"/>
              <a:t>, Telegram) и аналитика.</a:t>
            </a:r>
          </a:p>
          <a:p>
            <a:r>
              <a:rPr lang="ru-RU" dirty="0"/>
              <a:t>Код полностью документирован.</a:t>
            </a:r>
          </a:p>
          <a:p>
            <a:r>
              <a:rPr lang="ru-RU" dirty="0"/>
              <a:t>Проект покрыт автоматическими тестами.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4670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Выводы и перспективы </a:t>
            </a:r>
            <a:r>
              <a:rPr lang="ru-RU" b="1" dirty="0" smtClean="0"/>
              <a:t>развития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9625" y="1825625"/>
            <a:ext cx="11197653" cy="4650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Что можно улучшить:</a:t>
            </a:r>
            <a:endParaRPr lang="ru-RU" dirty="0"/>
          </a:p>
          <a:p>
            <a:r>
              <a:rPr lang="ru-RU" dirty="0"/>
              <a:t>Добавить REST API для мобильного приложения водителя.</a:t>
            </a:r>
          </a:p>
          <a:p>
            <a:r>
              <a:rPr lang="ru-RU" dirty="0"/>
              <a:t>Реализовать интерактивную карту с построением маршрута.</a:t>
            </a:r>
          </a:p>
          <a:p>
            <a:r>
              <a:rPr lang="ru-RU" dirty="0"/>
              <a:t>Подключить онлайн-оплату (</a:t>
            </a:r>
            <a:r>
              <a:rPr lang="ru-RU" dirty="0" err="1"/>
              <a:t>ЮKassa</a:t>
            </a:r>
            <a:r>
              <a:rPr lang="ru-RU" dirty="0"/>
              <a:t>, </a:t>
            </a:r>
            <a:r>
              <a:rPr lang="ru-RU" dirty="0" err="1"/>
              <a:t>CloudPayments</a:t>
            </a:r>
            <a:r>
              <a:rPr lang="ru-RU" dirty="0"/>
              <a:t>).</a:t>
            </a:r>
          </a:p>
          <a:p>
            <a:r>
              <a:rPr lang="ru-RU" dirty="0"/>
              <a:t>Ввести учёт ГСМ и расходов на ремонт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b="1" dirty="0"/>
              <a:t>Вывод: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Проект показал практическое применение </a:t>
            </a:r>
            <a:r>
              <a:rPr lang="ru-RU" dirty="0" err="1"/>
              <a:t>Django</a:t>
            </a:r>
            <a:r>
              <a:rPr lang="ru-RU" dirty="0"/>
              <a:t> и смежных библиотек для создания реального бизнес-приложения. Документирование кода и автоматические тесты облегчили разработку и подготовку отчётности.</a:t>
            </a:r>
          </a:p>
        </p:txBody>
      </p:sp>
    </p:spTree>
    <p:extLst>
      <p:ext uri="{BB962C8B-B14F-4D97-AF65-F5344CB8AC3E}">
        <p14:creationId xmlns:p14="http://schemas.microsoft.com/office/powerpoint/2010/main" val="2288880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255692"/>
            <a:ext cx="10515600" cy="1438197"/>
          </a:xfrm>
        </p:spPr>
        <p:txBody>
          <a:bodyPr/>
          <a:lstStyle/>
          <a:p>
            <a:pPr algn="ctr"/>
            <a:r>
              <a:rPr lang="ru-RU" b="1" dirty="0"/>
              <a:t>Спасибо за внимание</a:t>
            </a:r>
            <a:r>
              <a:rPr lang="ru-RU" b="1" dirty="0" smtClean="0"/>
              <a:t>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type="body" idx="1"/>
          </p:nvPr>
        </p:nvSpPr>
        <p:spPr>
          <a:xfrm>
            <a:off x="651968" y="3582649"/>
            <a:ext cx="10515600" cy="2177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dirty="0" smtClean="0"/>
              <a:t>Контакты:</a:t>
            </a:r>
          </a:p>
          <a:p>
            <a:pPr marL="0" indent="0">
              <a:buNone/>
            </a:pPr>
            <a:r>
              <a:rPr lang="en-US" sz="3600" b="1" dirty="0" smtClean="0"/>
              <a:t>Email: </a:t>
            </a:r>
            <a:r>
              <a:rPr lang="en-US" sz="3200" dirty="0" smtClean="0">
                <a:hlinkClick r:id="rId2"/>
              </a:rPr>
              <a:t>al-mar@list.ru</a:t>
            </a:r>
            <a:endParaRPr lang="en-US" sz="3200" dirty="0" smtClean="0"/>
          </a:p>
          <a:p>
            <a:r>
              <a:rPr lang="en-US" sz="3600" b="1" dirty="0" smtClean="0"/>
              <a:t>GitHub</a:t>
            </a:r>
            <a:r>
              <a:rPr lang="en-US" sz="3600" b="1" dirty="0"/>
              <a:t>: </a:t>
            </a:r>
            <a:r>
              <a:rPr lang="en-US" sz="3200" dirty="0"/>
              <a:t>https://github.com/novovaytsk-dev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101666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809</Words>
  <Application>Microsoft Office PowerPoint</Application>
  <PresentationFormat>Широкоэкранный</PresentationFormat>
  <Paragraphs>141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Menlo</vt:lpstr>
      <vt:lpstr>quote-cjk-patch</vt:lpstr>
      <vt:lpstr>Тема Office</vt:lpstr>
      <vt:lpstr>CRM-система для службы грузоперевозок «TransportCRM»</vt:lpstr>
      <vt:lpstr>Цель презентации </vt:lpstr>
      <vt:lpstr>Краткое описание проекта </vt:lpstr>
      <vt:lpstr> Цели и задачи проекта </vt:lpstr>
      <vt:lpstr>Анализ предметной области / Аналоги</vt:lpstr>
      <vt:lpstr> Выбранные технологии</vt:lpstr>
      <vt:lpstr>Архитектура системы (MVT)</vt:lpstr>
      <vt:lpstr>Ролевая модель</vt:lpstr>
      <vt:lpstr>Ключевые функции системы</vt:lpstr>
      <vt:lpstr>Пример кода: геокодирование и расчёт расстояния</vt:lpstr>
      <vt:lpstr>Пример кода: Telegram-уведомление</vt:lpstr>
      <vt:lpstr> </vt:lpstr>
      <vt:lpstr>Список заказов с поиском и фильтрацией.</vt:lpstr>
      <vt:lpstr>Карточка заказа с картой, историей статусов и кнопками документов.</vt:lpstr>
      <vt:lpstr>Личный кабинет водителя</vt:lpstr>
      <vt:lpstr>Личный кабинет клиента с кнопкой</vt:lpstr>
      <vt:lpstr>Аналитическая панель с графиками.</vt:lpstr>
      <vt:lpstr>Тестирование / Валидация</vt:lpstr>
      <vt:lpstr>Достижения целей проекта</vt:lpstr>
      <vt:lpstr>Выводы и перспективы развития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CRM-система для службы грузоперевозок «TransportCRM»</dc:title>
  <dc:creator>Саня Санин</dc:creator>
  <cp:lastModifiedBy>Саня Санин</cp:lastModifiedBy>
  <cp:revision>12</cp:revision>
  <dcterms:created xsi:type="dcterms:W3CDTF">2026-06-13T11:04:34Z</dcterms:created>
  <dcterms:modified xsi:type="dcterms:W3CDTF">2026-09-13T13:55:33Z</dcterms:modified>
</cp:coreProperties>
</file>